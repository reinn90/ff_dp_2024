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465" autoAdjust="0"/>
  </p:normalViewPr>
  <p:slideViewPr>
    <p:cSldViewPr snapToGrid="0">
      <p:cViewPr varScale="1">
        <p:scale>
          <a:sx n="73" d="100"/>
          <a:sy n="73" d="100"/>
        </p:scale>
        <p:origin x="20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BB6E-54F3-48F8-94B0-5AA82B7556E3}" type="datetimeFigureOut">
              <a:rPr lang="en-AU" smtClean="0"/>
              <a:t>9/11/2024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25DF8-6011-415B-BC20-CB8400DC40D6}" type="slidenum">
              <a:rPr lang="en-AU" smtClean="0"/>
              <a:t>‹#›</a:t>
            </a:fld>
            <a:endParaRPr lang="en-AU"/>
          </a:p>
        </p:txBody>
      </p:sp>
    </p:spTree>
    <p:extLst>
      <p:ext uri="{BB962C8B-B14F-4D97-AF65-F5344CB8AC3E}">
        <p14:creationId xmlns:p14="http://schemas.microsoft.com/office/powerpoint/2010/main" val="3266226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“Hello everyone. I'm Kevin, and with me is my project partner Gabriel. We’ll be presenting our research on validating the efficiency of the Forward-Forward Algorithm, a novel approach to neural network training proposed by Geoffrey Hinton. </a:t>
            </a:r>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1</a:t>
            </a:fld>
            <a:endParaRPr lang="en-AU"/>
          </a:p>
        </p:txBody>
      </p:sp>
    </p:spTree>
    <p:extLst>
      <p:ext uri="{BB962C8B-B14F-4D97-AF65-F5344CB8AC3E}">
        <p14:creationId xmlns:p14="http://schemas.microsoft.com/office/powerpoint/2010/main" val="1982245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[Kevin]: </a:t>
            </a:r>
            <a:r>
              <a:rPr lang="en-US" b="0" i="0" dirty="0">
                <a:solidFill>
                  <a:srgbClr val="EBEEF2"/>
                </a:solidFill>
                <a:effectLst/>
                <a:latin typeface="Inter"/>
              </a:rPr>
              <a:t>Our aim for this project was to explore and evaluate the computational efficiency and resource usage of the Forward-Forward algorithm compared to traditional backpropagation in a simple supervised learning.</a:t>
            </a:r>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2</a:t>
            </a:fld>
            <a:endParaRPr lang="en-AU"/>
          </a:p>
        </p:txBody>
      </p:sp>
    </p:spTree>
    <p:extLst>
      <p:ext uri="{BB962C8B-B14F-4D97-AF65-F5344CB8AC3E}">
        <p14:creationId xmlns:p14="http://schemas.microsoft.com/office/powerpoint/2010/main" val="6517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The challenge we're addressing today is fundamental to machine learning. Backpropagation, while effective, is computationally intensive and doesn't reflect how biological neural networks function. The FF, on the other hand, presents an interesting alternative. Instead of the traditional forward-backward cycle, it uses two forward passes - one for positive samples and one for negative samples of the data. We hypothesized that this approach could achieve similar accuracy while being more computationally efficient.</a:t>
            </a:r>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3</a:t>
            </a:fld>
            <a:endParaRPr lang="en-AU"/>
          </a:p>
        </p:txBody>
      </p:sp>
    </p:spTree>
    <p:extLst>
      <p:ext uri="{BB962C8B-B14F-4D97-AF65-F5344CB8AC3E}">
        <p14:creationId xmlns:p14="http://schemas.microsoft.com/office/powerpoint/2010/main" val="157426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For our methodology, we implemented both algorithms using </a:t>
            </a:r>
            <a:r>
              <a:rPr lang="en-US" dirty="0" err="1"/>
              <a:t>PyTorch</a:t>
            </a:r>
            <a:r>
              <a:rPr lang="en-US" dirty="0"/>
              <a:t> and tested them on the MNIST dataset of handwritten digits. The data is prepared by appending the one-hot-encoded class label to the start of the image. For the positive sample, it’s label would match the datapoint, while in the negative sample, a random label is appended.</a:t>
            </a:r>
          </a:p>
          <a:p>
            <a:endParaRPr lang="en-US" dirty="0"/>
          </a:p>
          <a:p>
            <a:r>
              <a:rPr lang="en-US" dirty="0"/>
              <a:t>[Gabe] We built two identical neural networks, each with three layers and 1000 neurons per layer. To ensure a fair comparison, we conducted two types of tests: one running both models for 50 epochs, and another training each model until they reached 97% accuracy. Throughout these tests, we carefully monitored GPU utilization, power consumption, and memory usage.</a:t>
            </a:r>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4</a:t>
            </a:fld>
            <a:endParaRPr lang="en-AU"/>
          </a:p>
        </p:txBody>
      </p:sp>
    </p:spTree>
    <p:extLst>
      <p:ext uri="{BB962C8B-B14F-4D97-AF65-F5344CB8AC3E}">
        <p14:creationId xmlns:p14="http://schemas.microsoft.com/office/powerpoint/2010/main" val="4232725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[Gabe] Our findings were quite interesting. The Forward-Forward algorithm consistently outperformed backpropagation in several key metrics. Most notably, FF reached our target accuracy threshold 50 seconds faster than traditional backpropagation. We observed a 20% reduction in power consumption, and GPU utilization was significantly lower at 27.39% compared to backpropagation's 36.03%. What's particularly encouraging is that these efficiency gains didn't come at the cost of accuracy – Forward </a:t>
            </a:r>
            <a:r>
              <a:rPr lang="en-US" dirty="0" err="1"/>
              <a:t>Forward</a:t>
            </a:r>
            <a:r>
              <a:rPr lang="en-US" dirty="0"/>
              <a:t> showed similar learning patterns.</a:t>
            </a:r>
          </a:p>
          <a:p>
            <a:endParaRPr lang="en-US" dirty="0"/>
          </a:p>
          <a:p>
            <a:r>
              <a:rPr lang="en-US" dirty="0"/>
              <a:t>Additionally, we can see from the t-SNE visualization of the Forward Forward’s layer embeddings confirm our expectations about the model’s trained parameters – it is effectively learning the correct representation of the test data.</a:t>
            </a:r>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5</a:t>
            </a:fld>
            <a:endParaRPr lang="en-AU"/>
          </a:p>
        </p:txBody>
      </p:sp>
    </p:spTree>
    <p:extLst>
      <p:ext uri="{BB962C8B-B14F-4D97-AF65-F5344CB8AC3E}">
        <p14:creationId xmlns:p14="http://schemas.microsoft.com/office/powerpoint/2010/main" val="2991242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[Gabe] These results essentially agree with Hinton’s paper proposing the FF algorithm and its exciting implications, particularly for resource-constrained environments like embedded devices and internet of things systems, where computational efficiency and power consumptions are critical factors.</a:t>
            </a:r>
          </a:p>
          <a:p>
            <a:endParaRPr lang="en-US" dirty="0"/>
          </a:p>
          <a:p>
            <a:endParaRPr lang="en-US" dirty="0"/>
          </a:p>
        </p:txBody>
      </p:sp>
      <p:sp>
        <p:nvSpPr>
          <p:cNvPr id="4" name="Slide Number Placeholder 3"/>
          <p:cNvSpPr>
            <a:spLocks noGrp="1"/>
          </p:cNvSpPr>
          <p:nvPr>
            <p:ph type="sldNum" sz="quarter" idx="5"/>
          </p:nvPr>
        </p:nvSpPr>
        <p:spPr/>
        <p:txBody>
          <a:bodyPr/>
          <a:lstStyle/>
          <a:p>
            <a:fld id="{6D925DF8-6011-415B-BC20-CB8400DC40D6}" type="slidenum">
              <a:rPr lang="en-AU" smtClean="0"/>
              <a:t>6</a:t>
            </a:fld>
            <a:endParaRPr lang="en-AU"/>
          </a:p>
        </p:txBody>
      </p:sp>
    </p:spTree>
    <p:extLst>
      <p:ext uri="{BB962C8B-B14F-4D97-AF65-F5344CB8AC3E}">
        <p14:creationId xmlns:p14="http://schemas.microsoft.com/office/powerpoint/2010/main" val="1957433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[Kevin] As we look to future work, we're particularly interested in testing the algorithm's performance with different neural network architectures, like convolutional and recurrent neural networks and especially in Transformer based models. We would also like to expand this work to more complex datasets like CIFAR AND Fashion MNIST to further explore the capabilities of the Forward-Forward algorithm.</a:t>
            </a:r>
            <a:endParaRPr lang="en-AU" dirty="0"/>
          </a:p>
          <a:p>
            <a:endParaRPr lang="en-US" dirty="0"/>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[Kevin] In conclusion, while backpropagation remains the industry standard, our research demonstrates that the Forward-Forward algorithm offers a promising alternative, especially in scenarios where computational resources are limited and believe this work contributes to the ongoing evolution for more efficient neural network training methods . Thank you for time.</a:t>
            </a:r>
          </a:p>
          <a:p>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7</a:t>
            </a:fld>
            <a:endParaRPr lang="en-AU"/>
          </a:p>
        </p:txBody>
      </p:sp>
    </p:spTree>
    <p:extLst>
      <p:ext uri="{BB962C8B-B14F-4D97-AF65-F5344CB8AC3E}">
        <p14:creationId xmlns:p14="http://schemas.microsoft.com/office/powerpoint/2010/main" val="4224234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[Gabe] Thank you.</a:t>
            </a:r>
            <a:endParaRPr lang="en-AU" dirty="0"/>
          </a:p>
          <a:p>
            <a:endParaRPr lang="en-AU" dirty="0"/>
          </a:p>
        </p:txBody>
      </p:sp>
      <p:sp>
        <p:nvSpPr>
          <p:cNvPr id="4" name="Slide Number Placeholder 3"/>
          <p:cNvSpPr>
            <a:spLocks noGrp="1"/>
          </p:cNvSpPr>
          <p:nvPr>
            <p:ph type="sldNum" sz="quarter" idx="5"/>
          </p:nvPr>
        </p:nvSpPr>
        <p:spPr/>
        <p:txBody>
          <a:bodyPr/>
          <a:lstStyle/>
          <a:p>
            <a:fld id="{6D925DF8-6011-415B-BC20-CB8400DC40D6}" type="slidenum">
              <a:rPr lang="en-AU" smtClean="0"/>
              <a:t>8</a:t>
            </a:fld>
            <a:endParaRPr lang="en-AU"/>
          </a:p>
        </p:txBody>
      </p:sp>
    </p:spTree>
    <p:extLst>
      <p:ext uri="{BB962C8B-B14F-4D97-AF65-F5344CB8AC3E}">
        <p14:creationId xmlns:p14="http://schemas.microsoft.com/office/powerpoint/2010/main" val="2981333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dirty="0"/>
              <a:t>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dirty="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39F4F5-F4D2-4D2A-AB60-88D37ADCB869}" type="datetimeFigureOut">
              <a:rPr lang="en-US" dirty="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t>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dirty="0"/>
              <a:t>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D1BD23-6E54-4D9D-AD88-A2813C73CC25}"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71A834-4F3C-4AF9-9C74-05EC35A0F292}"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80C674-7DFC-42FE-B9CD-82963CDB1557}"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76456F-F47D-4F25-8053-2A695DA0CA7D}"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6C7379-69CC-4837-9905-BEBA22830C8A}"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B8B7E-8AEE-4F10-BFEE-C999AD004D36}" type="datetimeFigureOut">
              <a:rPr lang="en-US" dirty="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8F3F9-58BC-440B-B37B-805B9055EF92}" type="datetimeFigureOut">
              <a:rPr lang="en-US" dirty="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5A53AF-48EA-489D-8260-9DCAB666386A}" type="datetimeFigureOut">
              <a:rPr lang="en-US" dirty="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dirty="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dirty="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t>11/9/2024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98A7-8408-60BA-CEB3-07FFC92A9764}"/>
              </a:ext>
            </a:extLst>
          </p:cNvPr>
          <p:cNvSpPr>
            <a:spLocks noGrp="1"/>
          </p:cNvSpPr>
          <p:nvPr>
            <p:ph type="ctrTitle"/>
          </p:nvPr>
        </p:nvSpPr>
        <p:spPr>
          <a:xfrm>
            <a:off x="2209799" y="693306"/>
            <a:ext cx="9144000" cy="1641490"/>
          </a:xfrm>
        </p:spPr>
        <p:txBody>
          <a:bodyPr>
            <a:normAutofit/>
          </a:bodyPr>
          <a:lstStyle/>
          <a:p>
            <a:r>
              <a:rPr lang="en-AU" sz="5000" dirty="0"/>
              <a:t>Validating Efficiency of the </a:t>
            </a:r>
            <a:br>
              <a:rPr lang="en-AU" sz="5000" dirty="0"/>
            </a:br>
            <a:r>
              <a:rPr lang="en-AU" sz="5000" dirty="0"/>
              <a:t>Forward-Forward Algorithm</a:t>
            </a:r>
          </a:p>
        </p:txBody>
      </p:sp>
      <p:sp>
        <p:nvSpPr>
          <p:cNvPr id="3" name="Subtitle 2">
            <a:extLst>
              <a:ext uri="{FF2B5EF4-FFF2-40B4-BE49-F238E27FC236}">
                <a16:creationId xmlns:a16="http://schemas.microsoft.com/office/drawing/2014/main" id="{D6DE5303-5250-A2E9-3AE2-1C3FF7B0B66E}"/>
              </a:ext>
            </a:extLst>
          </p:cNvPr>
          <p:cNvSpPr>
            <a:spLocks noGrp="1"/>
          </p:cNvSpPr>
          <p:nvPr>
            <p:ph type="subTitle" idx="1"/>
          </p:nvPr>
        </p:nvSpPr>
        <p:spPr>
          <a:xfrm>
            <a:off x="360576" y="5392132"/>
            <a:ext cx="5531177" cy="922775"/>
          </a:xfrm>
        </p:spPr>
        <p:txBody>
          <a:bodyPr>
            <a:normAutofit/>
          </a:bodyPr>
          <a:lstStyle/>
          <a:p>
            <a:pPr algn="l"/>
            <a:r>
              <a:rPr lang="en-AU" sz="2500" dirty="0">
                <a:latin typeface="+mn-lt"/>
              </a:rPr>
              <a:t>COMP3035</a:t>
            </a:r>
            <a:r>
              <a:rPr lang="en-AU" sz="2500" dirty="0"/>
              <a:t> Discovery Project</a:t>
            </a:r>
          </a:p>
          <a:p>
            <a:pPr algn="l"/>
            <a:r>
              <a:rPr lang="en-AU" sz="2500" dirty="0"/>
              <a:t>Kevin Reyes &amp; Gabriel Schussler</a:t>
            </a:r>
          </a:p>
        </p:txBody>
      </p:sp>
      <p:sp>
        <p:nvSpPr>
          <p:cNvPr id="4" name="TextBox 3">
            <a:extLst>
              <a:ext uri="{FF2B5EF4-FFF2-40B4-BE49-F238E27FC236}">
                <a16:creationId xmlns:a16="http://schemas.microsoft.com/office/drawing/2014/main" id="{A6A5B6D7-5AF7-3B36-5897-50E534D91E36}"/>
              </a:ext>
            </a:extLst>
          </p:cNvPr>
          <p:cNvSpPr txBox="1"/>
          <p:nvPr/>
        </p:nvSpPr>
        <p:spPr>
          <a:xfrm>
            <a:off x="9219415" y="5678003"/>
            <a:ext cx="2813114" cy="646331"/>
          </a:xfrm>
          <a:prstGeom prst="rect">
            <a:avLst/>
          </a:prstGeom>
          <a:noFill/>
        </p:spPr>
        <p:txBody>
          <a:bodyPr wrap="square" rtlCol="0">
            <a:spAutoFit/>
          </a:bodyPr>
          <a:lstStyle/>
          <a:p>
            <a:r>
              <a:rPr lang="en-AU" dirty="0"/>
              <a:t>Western Sydney University</a:t>
            </a:r>
          </a:p>
          <a:p>
            <a:r>
              <a:rPr lang="en-AU" dirty="0"/>
              <a:t>Spring 2024</a:t>
            </a:r>
          </a:p>
        </p:txBody>
      </p:sp>
    </p:spTree>
    <p:extLst>
      <p:ext uri="{BB962C8B-B14F-4D97-AF65-F5344CB8AC3E}">
        <p14:creationId xmlns:p14="http://schemas.microsoft.com/office/powerpoint/2010/main" val="92993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F8C8-62D5-87A0-753C-6493031B4249}"/>
              </a:ext>
            </a:extLst>
          </p:cNvPr>
          <p:cNvSpPr>
            <a:spLocks noGrp="1"/>
          </p:cNvSpPr>
          <p:nvPr>
            <p:ph type="title"/>
          </p:nvPr>
        </p:nvSpPr>
        <p:spPr/>
        <p:txBody>
          <a:bodyPr/>
          <a:lstStyle/>
          <a:p>
            <a:r>
              <a:rPr lang="en-AU" dirty="0"/>
              <a:t>Aim</a:t>
            </a:r>
          </a:p>
        </p:txBody>
      </p:sp>
      <p:sp>
        <p:nvSpPr>
          <p:cNvPr id="3" name="Content Placeholder 2">
            <a:extLst>
              <a:ext uri="{FF2B5EF4-FFF2-40B4-BE49-F238E27FC236}">
                <a16:creationId xmlns:a16="http://schemas.microsoft.com/office/drawing/2014/main" id="{C95826D3-0250-1F26-8CCD-86D2C676D839}"/>
              </a:ext>
            </a:extLst>
          </p:cNvPr>
          <p:cNvSpPr>
            <a:spLocks noGrp="1"/>
          </p:cNvSpPr>
          <p:nvPr>
            <p:ph idx="1"/>
          </p:nvPr>
        </p:nvSpPr>
        <p:spPr/>
        <p:txBody>
          <a:bodyPr/>
          <a:lstStyle/>
          <a:p>
            <a:endParaRPr lang="en-AU" dirty="0"/>
          </a:p>
          <a:p>
            <a:r>
              <a:rPr lang="en-AU" dirty="0"/>
              <a:t>Evaluate Geoffrey Hinton’s Forward-Forward (FF) algorithm vs traditional Backpropagation (BP)</a:t>
            </a:r>
          </a:p>
          <a:p>
            <a:endParaRPr lang="en-AU" dirty="0"/>
          </a:p>
          <a:p>
            <a:endParaRPr lang="en-AU" dirty="0"/>
          </a:p>
          <a:p>
            <a:r>
              <a:rPr lang="en-AU" dirty="0"/>
              <a:t>Goal: Compare computational efficiency and resource usage</a:t>
            </a:r>
          </a:p>
          <a:p>
            <a:endParaRPr lang="en-AU" dirty="0"/>
          </a:p>
        </p:txBody>
      </p:sp>
    </p:spTree>
    <p:extLst>
      <p:ext uri="{BB962C8B-B14F-4D97-AF65-F5344CB8AC3E}">
        <p14:creationId xmlns:p14="http://schemas.microsoft.com/office/powerpoint/2010/main" val="318638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CE98-DE48-190A-F0CD-80373A124917}"/>
              </a:ext>
            </a:extLst>
          </p:cNvPr>
          <p:cNvSpPr>
            <a:spLocks noGrp="1"/>
          </p:cNvSpPr>
          <p:nvPr>
            <p:ph type="title"/>
          </p:nvPr>
        </p:nvSpPr>
        <p:spPr/>
        <p:txBody>
          <a:bodyPr/>
          <a:lstStyle/>
          <a:p>
            <a:r>
              <a:rPr lang="en-AU" dirty="0"/>
              <a:t>Motivation</a:t>
            </a:r>
          </a:p>
        </p:txBody>
      </p:sp>
      <p:sp>
        <p:nvSpPr>
          <p:cNvPr id="3" name="Content Placeholder 2">
            <a:extLst>
              <a:ext uri="{FF2B5EF4-FFF2-40B4-BE49-F238E27FC236}">
                <a16:creationId xmlns:a16="http://schemas.microsoft.com/office/drawing/2014/main" id="{3F1BF2F8-2618-BB30-62B5-EEB2E09B0931}"/>
              </a:ext>
            </a:extLst>
          </p:cNvPr>
          <p:cNvSpPr>
            <a:spLocks noGrp="1"/>
          </p:cNvSpPr>
          <p:nvPr>
            <p:ph idx="1"/>
          </p:nvPr>
        </p:nvSpPr>
        <p:spPr>
          <a:xfrm>
            <a:off x="838200" y="1555083"/>
            <a:ext cx="4649864" cy="1538883"/>
          </a:xfrm>
        </p:spPr>
        <p:txBody>
          <a:bodyPr>
            <a:normAutofit/>
          </a:bodyPr>
          <a:lstStyle/>
          <a:p>
            <a:r>
              <a:rPr lang="en-AU" dirty="0"/>
              <a:t>Backpropagation </a:t>
            </a:r>
          </a:p>
          <a:p>
            <a:pPr lvl="1"/>
            <a:r>
              <a:rPr lang="en-AU" dirty="0"/>
              <a:t>Computationally intensive</a:t>
            </a:r>
          </a:p>
          <a:p>
            <a:pPr lvl="1"/>
            <a:r>
              <a:rPr lang="en-AU" dirty="0"/>
              <a:t>Biologically implausible</a:t>
            </a:r>
          </a:p>
        </p:txBody>
      </p:sp>
      <p:pic>
        <p:nvPicPr>
          <p:cNvPr id="5" name="Picture 4">
            <a:extLst>
              <a:ext uri="{FF2B5EF4-FFF2-40B4-BE49-F238E27FC236}">
                <a16:creationId xmlns:a16="http://schemas.microsoft.com/office/drawing/2014/main" id="{835630BB-1CE1-EB79-3942-C6A6D3C57CA8}"/>
              </a:ext>
            </a:extLst>
          </p:cNvPr>
          <p:cNvPicPr>
            <a:picLocks noChangeAspect="1"/>
          </p:cNvPicPr>
          <p:nvPr/>
        </p:nvPicPr>
        <p:blipFill>
          <a:blip r:embed="rId3"/>
          <a:stretch>
            <a:fillRect/>
          </a:stretch>
        </p:blipFill>
        <p:spPr>
          <a:xfrm>
            <a:off x="721354" y="3093966"/>
            <a:ext cx="6649407" cy="26323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39ED4745-E5D1-3E64-27F0-6419D0C7B2C9}"/>
              </a:ext>
            </a:extLst>
          </p:cNvPr>
          <p:cNvSpPr txBox="1"/>
          <p:nvPr/>
        </p:nvSpPr>
        <p:spPr>
          <a:xfrm>
            <a:off x="6096000" y="1555082"/>
            <a:ext cx="5699760" cy="1169551"/>
          </a:xfrm>
          <a:prstGeom prst="rect">
            <a:avLst/>
          </a:prstGeom>
          <a:noFill/>
        </p:spPr>
        <p:txBody>
          <a:bodyPr wrap="square" rtlCol="0">
            <a:spAutoFit/>
          </a:bodyPr>
          <a:lstStyle/>
          <a:p>
            <a:pPr marL="457200" indent="-457200">
              <a:buFont typeface="Arial" panose="020B0604020202020204" pitchFamily="34" charset="0"/>
              <a:buChar char="•"/>
            </a:pPr>
            <a:r>
              <a:rPr lang="en-AU" sz="2800" dirty="0"/>
              <a:t>Forward-Forward</a:t>
            </a:r>
          </a:p>
          <a:p>
            <a:pPr marL="914400" lvl="1" indent="-457200">
              <a:buFont typeface="Arial" panose="020B0604020202020204" pitchFamily="34" charset="0"/>
              <a:buChar char="•"/>
            </a:pPr>
            <a:r>
              <a:rPr lang="en-AU" sz="2400" dirty="0"/>
              <a:t>Eliminate forward-backward passes</a:t>
            </a:r>
          </a:p>
          <a:p>
            <a:endParaRPr lang="en-AU" dirty="0"/>
          </a:p>
        </p:txBody>
      </p:sp>
      <p:sp>
        <p:nvSpPr>
          <p:cNvPr id="9" name="TextBox 8">
            <a:extLst>
              <a:ext uri="{FF2B5EF4-FFF2-40B4-BE49-F238E27FC236}">
                <a16:creationId xmlns:a16="http://schemas.microsoft.com/office/drawing/2014/main" id="{8104A169-6825-49A1-183B-D3E0ADF16742}"/>
              </a:ext>
            </a:extLst>
          </p:cNvPr>
          <p:cNvSpPr txBox="1"/>
          <p:nvPr/>
        </p:nvSpPr>
        <p:spPr>
          <a:xfrm>
            <a:off x="530352" y="6432980"/>
            <a:ext cx="3515706" cy="246221"/>
          </a:xfrm>
          <a:prstGeom prst="rect">
            <a:avLst/>
          </a:prstGeom>
          <a:noFill/>
        </p:spPr>
        <p:txBody>
          <a:bodyPr wrap="none" rtlCol="0">
            <a:spAutoFit/>
          </a:bodyPr>
          <a:lstStyle/>
          <a:p>
            <a:r>
              <a:rPr lang="en-AU" sz="1000" dirty="0"/>
              <a:t>Image: https://github.com/aqbewtra/pytorch_forward_forward</a:t>
            </a:r>
          </a:p>
        </p:txBody>
      </p:sp>
      <p:pic>
        <p:nvPicPr>
          <p:cNvPr id="10" name="Picture 9">
            <a:extLst>
              <a:ext uri="{FF2B5EF4-FFF2-40B4-BE49-F238E27FC236}">
                <a16:creationId xmlns:a16="http://schemas.microsoft.com/office/drawing/2014/main" id="{F40400E0-1F15-2BAD-6160-F04337906EDF}"/>
              </a:ext>
            </a:extLst>
          </p:cNvPr>
          <p:cNvPicPr>
            <a:picLocks noChangeAspect="1"/>
          </p:cNvPicPr>
          <p:nvPr/>
        </p:nvPicPr>
        <p:blipFill>
          <a:blip r:embed="rId4"/>
          <a:srcRect r="47587"/>
          <a:stretch/>
        </p:blipFill>
        <p:spPr>
          <a:xfrm>
            <a:off x="7978697" y="2521145"/>
            <a:ext cx="2665301" cy="221988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B959C356-9397-A618-72CA-577970D25C4D}"/>
              </a:ext>
            </a:extLst>
          </p:cNvPr>
          <p:cNvPicPr>
            <a:picLocks noChangeAspect="1"/>
          </p:cNvPicPr>
          <p:nvPr/>
        </p:nvPicPr>
        <p:blipFill>
          <a:blip r:embed="rId5"/>
          <a:stretch>
            <a:fillRect/>
          </a:stretch>
        </p:blipFill>
        <p:spPr>
          <a:xfrm>
            <a:off x="9644652" y="4250718"/>
            <a:ext cx="2467319" cy="23053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1120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2A5C7-0F80-2DC1-75D5-113798547E66}"/>
              </a:ext>
            </a:extLst>
          </p:cNvPr>
          <p:cNvSpPr>
            <a:spLocks noGrp="1"/>
          </p:cNvSpPr>
          <p:nvPr>
            <p:ph type="title"/>
          </p:nvPr>
        </p:nvSpPr>
        <p:spPr/>
        <p:txBody>
          <a:bodyPr/>
          <a:lstStyle/>
          <a:p>
            <a:r>
              <a:rPr lang="en-AU" dirty="0"/>
              <a:t>Methodology</a:t>
            </a:r>
          </a:p>
        </p:txBody>
      </p:sp>
      <p:sp>
        <p:nvSpPr>
          <p:cNvPr id="3" name="Content Placeholder 2">
            <a:extLst>
              <a:ext uri="{FF2B5EF4-FFF2-40B4-BE49-F238E27FC236}">
                <a16:creationId xmlns:a16="http://schemas.microsoft.com/office/drawing/2014/main" id="{B40E13A6-9DE6-184B-B530-AF7E75870D55}"/>
              </a:ext>
            </a:extLst>
          </p:cNvPr>
          <p:cNvSpPr>
            <a:spLocks noGrp="1"/>
          </p:cNvSpPr>
          <p:nvPr>
            <p:ph idx="1"/>
          </p:nvPr>
        </p:nvSpPr>
        <p:spPr>
          <a:xfrm>
            <a:off x="1120000" y="1825625"/>
            <a:ext cx="5043056" cy="4351338"/>
          </a:xfrm>
        </p:spPr>
        <p:txBody>
          <a:bodyPr/>
          <a:lstStyle/>
          <a:p>
            <a:r>
              <a:rPr lang="en-AU" dirty="0"/>
              <a:t>MNIST dataset</a:t>
            </a:r>
          </a:p>
          <a:p>
            <a:pPr lvl="1"/>
            <a:r>
              <a:rPr lang="en-AU" dirty="0"/>
              <a:t>3 Fully connected hidden layers</a:t>
            </a:r>
          </a:p>
          <a:p>
            <a:pPr lvl="1"/>
            <a:r>
              <a:rPr lang="en-AU" dirty="0"/>
              <a:t>1000 </a:t>
            </a:r>
            <a:r>
              <a:rPr lang="en-AU" dirty="0" err="1"/>
              <a:t>ReLUs</a:t>
            </a:r>
            <a:endParaRPr lang="en-AU" dirty="0"/>
          </a:p>
          <a:p>
            <a:r>
              <a:rPr lang="en-AU" dirty="0"/>
              <a:t>Control</a:t>
            </a:r>
          </a:p>
          <a:p>
            <a:pPr lvl="1"/>
            <a:r>
              <a:rPr lang="en-AU" dirty="0"/>
              <a:t>50 epochs</a:t>
            </a:r>
          </a:p>
          <a:p>
            <a:pPr lvl="1"/>
            <a:r>
              <a:rPr lang="en-AU" dirty="0"/>
              <a:t>97% accuracy</a:t>
            </a:r>
          </a:p>
          <a:p>
            <a:r>
              <a:rPr lang="en-AU" dirty="0"/>
              <a:t>Metrics</a:t>
            </a:r>
          </a:p>
          <a:p>
            <a:pPr lvl="1"/>
            <a:r>
              <a:rPr lang="en-AU" dirty="0"/>
              <a:t>GPU Utilisation</a:t>
            </a:r>
          </a:p>
          <a:p>
            <a:pPr lvl="1"/>
            <a:r>
              <a:rPr lang="en-AU" dirty="0"/>
              <a:t>GPU Power Draw</a:t>
            </a:r>
          </a:p>
          <a:p>
            <a:pPr lvl="1"/>
            <a:r>
              <a:rPr lang="en-AU" dirty="0"/>
              <a:t>GPU Memory Usage</a:t>
            </a:r>
          </a:p>
        </p:txBody>
      </p:sp>
      <p:pic>
        <p:nvPicPr>
          <p:cNvPr id="8" name="Picture 7">
            <a:extLst>
              <a:ext uri="{FF2B5EF4-FFF2-40B4-BE49-F238E27FC236}">
                <a16:creationId xmlns:a16="http://schemas.microsoft.com/office/drawing/2014/main" id="{010BC515-0E42-B58E-6775-5C753F037127}"/>
              </a:ext>
            </a:extLst>
          </p:cNvPr>
          <p:cNvPicPr>
            <a:picLocks noChangeAspect="1"/>
          </p:cNvPicPr>
          <p:nvPr/>
        </p:nvPicPr>
        <p:blipFill>
          <a:blip r:embed="rId3"/>
          <a:stretch>
            <a:fillRect/>
          </a:stretch>
        </p:blipFill>
        <p:spPr>
          <a:xfrm>
            <a:off x="6379899" y="2570208"/>
            <a:ext cx="5128378" cy="2344119"/>
          </a:xfrm>
          <a:prstGeom prst="rect">
            <a:avLst/>
          </a:prstGeom>
        </p:spPr>
      </p:pic>
    </p:spTree>
    <p:extLst>
      <p:ext uri="{BB962C8B-B14F-4D97-AF65-F5344CB8AC3E}">
        <p14:creationId xmlns:p14="http://schemas.microsoft.com/office/powerpoint/2010/main" val="4186858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097933-52DF-4839-8614-5CD3A3DF4C39}"/>
              </a:ext>
            </a:extLst>
          </p:cNvPr>
          <p:cNvPicPr>
            <a:picLocks noChangeAspect="1"/>
          </p:cNvPicPr>
          <p:nvPr/>
        </p:nvPicPr>
        <p:blipFill>
          <a:blip r:embed="rId3"/>
          <a:stretch>
            <a:fillRect/>
          </a:stretch>
        </p:blipFill>
        <p:spPr>
          <a:xfrm>
            <a:off x="5541263" y="1484439"/>
            <a:ext cx="5922474" cy="230475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A5940300-5AAE-7F4F-D555-CEE067F083D2}"/>
              </a:ext>
            </a:extLst>
          </p:cNvPr>
          <p:cNvSpPr>
            <a:spLocks noGrp="1"/>
          </p:cNvSpPr>
          <p:nvPr>
            <p:ph type="title"/>
          </p:nvPr>
        </p:nvSpPr>
        <p:spPr/>
        <p:txBody>
          <a:bodyPr/>
          <a:lstStyle/>
          <a:p>
            <a:r>
              <a:rPr lang="en-AU" dirty="0"/>
              <a:t>Key Findings</a:t>
            </a:r>
          </a:p>
        </p:txBody>
      </p:sp>
      <p:sp>
        <p:nvSpPr>
          <p:cNvPr id="3" name="Content Placeholder 2">
            <a:extLst>
              <a:ext uri="{FF2B5EF4-FFF2-40B4-BE49-F238E27FC236}">
                <a16:creationId xmlns:a16="http://schemas.microsoft.com/office/drawing/2014/main" id="{9615B386-6A03-4B1B-11A2-19178C8BBE0D}"/>
              </a:ext>
            </a:extLst>
          </p:cNvPr>
          <p:cNvSpPr>
            <a:spLocks noGrp="1"/>
          </p:cNvSpPr>
          <p:nvPr>
            <p:ph idx="1"/>
          </p:nvPr>
        </p:nvSpPr>
        <p:spPr>
          <a:xfrm>
            <a:off x="1120000" y="1825625"/>
            <a:ext cx="4222709" cy="4351338"/>
          </a:xfrm>
        </p:spPr>
        <p:txBody>
          <a:bodyPr/>
          <a:lstStyle/>
          <a:p>
            <a:r>
              <a:rPr lang="en-AU" dirty="0"/>
              <a:t>FF faster than BP</a:t>
            </a:r>
          </a:p>
          <a:p>
            <a:r>
              <a:rPr lang="en-AU" dirty="0"/>
              <a:t>20% lower power consumption</a:t>
            </a:r>
          </a:p>
          <a:p>
            <a:r>
              <a:rPr lang="en-AU" dirty="0"/>
              <a:t>Lower GPU utilisation</a:t>
            </a:r>
          </a:p>
          <a:p>
            <a:endParaRPr lang="en-AU" dirty="0"/>
          </a:p>
        </p:txBody>
      </p:sp>
      <p:sp>
        <p:nvSpPr>
          <p:cNvPr id="6" name="Rectangle 5">
            <a:extLst>
              <a:ext uri="{FF2B5EF4-FFF2-40B4-BE49-F238E27FC236}">
                <a16:creationId xmlns:a16="http://schemas.microsoft.com/office/drawing/2014/main" id="{37D53B1B-A33E-997C-DF71-E1097EF1C3A6}"/>
              </a:ext>
            </a:extLst>
          </p:cNvPr>
          <p:cNvSpPr/>
          <p:nvPr/>
        </p:nvSpPr>
        <p:spPr>
          <a:xfrm>
            <a:off x="9811512" y="2212848"/>
            <a:ext cx="713232" cy="283464"/>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AU">
              <a:solidFill>
                <a:srgbClr val="FF0000"/>
              </a:solidFill>
            </a:endParaRPr>
          </a:p>
        </p:txBody>
      </p:sp>
      <p:sp>
        <p:nvSpPr>
          <p:cNvPr id="7" name="Rectangle 6">
            <a:extLst>
              <a:ext uri="{FF2B5EF4-FFF2-40B4-BE49-F238E27FC236}">
                <a16:creationId xmlns:a16="http://schemas.microsoft.com/office/drawing/2014/main" id="{C16DA218-CEB4-29D1-F4DF-BBEA2CC3F09E}"/>
              </a:ext>
            </a:extLst>
          </p:cNvPr>
          <p:cNvSpPr/>
          <p:nvPr/>
        </p:nvSpPr>
        <p:spPr>
          <a:xfrm>
            <a:off x="9811512" y="2674303"/>
            <a:ext cx="713232" cy="283464"/>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AU">
              <a:solidFill>
                <a:srgbClr val="FF0000"/>
              </a:solidFill>
            </a:endParaRPr>
          </a:p>
        </p:txBody>
      </p:sp>
      <p:sp>
        <p:nvSpPr>
          <p:cNvPr id="8" name="Rectangle 7">
            <a:extLst>
              <a:ext uri="{FF2B5EF4-FFF2-40B4-BE49-F238E27FC236}">
                <a16:creationId xmlns:a16="http://schemas.microsoft.com/office/drawing/2014/main" id="{3D005D3B-E16D-8D57-DF20-C2FAC32E8B09}"/>
              </a:ext>
            </a:extLst>
          </p:cNvPr>
          <p:cNvSpPr/>
          <p:nvPr/>
        </p:nvSpPr>
        <p:spPr>
          <a:xfrm>
            <a:off x="9811512" y="2946726"/>
            <a:ext cx="713232" cy="283464"/>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AU">
              <a:solidFill>
                <a:srgbClr val="FF0000"/>
              </a:solidFill>
            </a:endParaRPr>
          </a:p>
        </p:txBody>
      </p:sp>
      <p:pic>
        <p:nvPicPr>
          <p:cNvPr id="10" name="Picture 9">
            <a:extLst>
              <a:ext uri="{FF2B5EF4-FFF2-40B4-BE49-F238E27FC236}">
                <a16:creationId xmlns:a16="http://schemas.microsoft.com/office/drawing/2014/main" id="{CA16C740-45A1-B7E3-570B-602121F22694}"/>
              </a:ext>
            </a:extLst>
          </p:cNvPr>
          <p:cNvPicPr>
            <a:picLocks noChangeAspect="1"/>
          </p:cNvPicPr>
          <p:nvPr/>
        </p:nvPicPr>
        <p:blipFill>
          <a:blip r:embed="rId4"/>
          <a:stretch>
            <a:fillRect/>
          </a:stretch>
        </p:blipFill>
        <p:spPr>
          <a:xfrm>
            <a:off x="1321033" y="4119366"/>
            <a:ext cx="5227639" cy="220470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AEA05872-E12D-3D2D-DB28-FB6CC8D1DA8C}"/>
              </a:ext>
            </a:extLst>
          </p:cNvPr>
          <p:cNvPicPr>
            <a:picLocks noChangeAspect="1"/>
          </p:cNvPicPr>
          <p:nvPr/>
        </p:nvPicPr>
        <p:blipFill>
          <a:blip r:embed="rId5"/>
          <a:stretch>
            <a:fillRect/>
          </a:stretch>
        </p:blipFill>
        <p:spPr>
          <a:xfrm>
            <a:off x="7236506" y="4127702"/>
            <a:ext cx="3685349" cy="22359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96584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C595-8C58-AEEB-F5CD-62B2CE1A8172}"/>
              </a:ext>
            </a:extLst>
          </p:cNvPr>
          <p:cNvSpPr>
            <a:spLocks noGrp="1"/>
          </p:cNvSpPr>
          <p:nvPr>
            <p:ph type="title"/>
          </p:nvPr>
        </p:nvSpPr>
        <p:spPr/>
        <p:txBody>
          <a:bodyPr/>
          <a:lstStyle/>
          <a:p>
            <a:r>
              <a:rPr lang="en-AU" dirty="0"/>
              <a:t>Limitations &amp; Implications </a:t>
            </a:r>
          </a:p>
        </p:txBody>
      </p:sp>
      <p:sp>
        <p:nvSpPr>
          <p:cNvPr id="3" name="Content Placeholder 2">
            <a:extLst>
              <a:ext uri="{FF2B5EF4-FFF2-40B4-BE49-F238E27FC236}">
                <a16:creationId xmlns:a16="http://schemas.microsoft.com/office/drawing/2014/main" id="{A8DC5098-C6C0-B80D-2833-8C144BB4DA10}"/>
              </a:ext>
            </a:extLst>
          </p:cNvPr>
          <p:cNvSpPr>
            <a:spLocks noGrp="1"/>
          </p:cNvSpPr>
          <p:nvPr>
            <p:ph idx="1"/>
          </p:nvPr>
        </p:nvSpPr>
        <p:spPr>
          <a:xfrm>
            <a:off x="1120000" y="1825625"/>
            <a:ext cx="6587086" cy="4351338"/>
          </a:xfrm>
        </p:spPr>
        <p:txBody>
          <a:bodyPr>
            <a:normAutofit/>
          </a:bodyPr>
          <a:lstStyle/>
          <a:p>
            <a:r>
              <a:rPr lang="en-AU" dirty="0"/>
              <a:t>Implementation</a:t>
            </a:r>
          </a:p>
          <a:p>
            <a:pPr lvl="1"/>
            <a:r>
              <a:rPr lang="en-AU" dirty="0"/>
              <a:t>Gaming GPU instead of HPC</a:t>
            </a:r>
          </a:p>
          <a:p>
            <a:pPr lvl="1"/>
            <a:r>
              <a:rPr lang="en-AU" dirty="0"/>
              <a:t>Code improvements</a:t>
            </a:r>
          </a:p>
          <a:p>
            <a:pPr marL="457200" lvl="1" indent="0">
              <a:buNone/>
            </a:pPr>
            <a:endParaRPr lang="en-AU" dirty="0"/>
          </a:p>
          <a:p>
            <a:endParaRPr lang="en-AU" dirty="0"/>
          </a:p>
          <a:p>
            <a:endParaRPr lang="en-AU" dirty="0"/>
          </a:p>
          <a:p>
            <a:r>
              <a:rPr lang="en-AU" dirty="0"/>
              <a:t>FF for resource-constrained environments</a:t>
            </a:r>
          </a:p>
          <a:p>
            <a:pPr lvl="1"/>
            <a:r>
              <a:rPr lang="en-AU" dirty="0"/>
              <a:t>Embedded devices</a:t>
            </a:r>
          </a:p>
          <a:p>
            <a:pPr lvl="1"/>
            <a:r>
              <a:rPr lang="en-AU" dirty="0"/>
              <a:t>IoT</a:t>
            </a:r>
          </a:p>
          <a:p>
            <a:pPr marL="0" indent="0">
              <a:buNone/>
            </a:pPr>
            <a:endParaRPr lang="en-AU" dirty="0"/>
          </a:p>
          <a:p>
            <a:pPr marL="0" indent="0">
              <a:buNone/>
            </a:pPr>
            <a:endParaRPr lang="en-AU" dirty="0"/>
          </a:p>
        </p:txBody>
      </p:sp>
    </p:spTree>
    <p:extLst>
      <p:ext uri="{BB962C8B-B14F-4D97-AF65-F5344CB8AC3E}">
        <p14:creationId xmlns:p14="http://schemas.microsoft.com/office/powerpoint/2010/main" val="3251342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A3B2C-1F55-F7FF-E695-CE68CB6D143C}"/>
              </a:ext>
            </a:extLst>
          </p:cNvPr>
          <p:cNvSpPr>
            <a:spLocks noGrp="1"/>
          </p:cNvSpPr>
          <p:nvPr>
            <p:ph type="title"/>
          </p:nvPr>
        </p:nvSpPr>
        <p:spPr/>
        <p:txBody>
          <a:bodyPr/>
          <a:lstStyle/>
          <a:p>
            <a:r>
              <a:rPr lang="en-AU" dirty="0"/>
              <a:t>Future work</a:t>
            </a:r>
          </a:p>
        </p:txBody>
      </p:sp>
      <p:sp>
        <p:nvSpPr>
          <p:cNvPr id="3" name="Content Placeholder 2">
            <a:extLst>
              <a:ext uri="{FF2B5EF4-FFF2-40B4-BE49-F238E27FC236}">
                <a16:creationId xmlns:a16="http://schemas.microsoft.com/office/drawing/2014/main" id="{D9861AE1-BE0F-7203-C3E5-4D57DB2D4FFC}"/>
              </a:ext>
            </a:extLst>
          </p:cNvPr>
          <p:cNvSpPr>
            <a:spLocks noGrp="1"/>
          </p:cNvSpPr>
          <p:nvPr>
            <p:ph idx="1"/>
          </p:nvPr>
        </p:nvSpPr>
        <p:spPr/>
        <p:txBody>
          <a:bodyPr/>
          <a:lstStyle/>
          <a:p>
            <a:r>
              <a:rPr lang="en-AU" dirty="0"/>
              <a:t>Other architectures</a:t>
            </a:r>
          </a:p>
          <a:p>
            <a:pPr lvl="1"/>
            <a:r>
              <a:rPr lang="en-AU" dirty="0"/>
              <a:t>CNNs</a:t>
            </a:r>
          </a:p>
          <a:p>
            <a:pPr lvl="1"/>
            <a:r>
              <a:rPr lang="en-AU" dirty="0"/>
              <a:t>RNNs</a:t>
            </a:r>
          </a:p>
          <a:p>
            <a:pPr lvl="1"/>
            <a:r>
              <a:rPr lang="en-AU" dirty="0"/>
              <a:t>Transformers</a:t>
            </a:r>
            <a:endParaRPr lang="en-AU" sz="2800"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sz="2800" dirty="0"/>
              <a:t>Complex datasets </a:t>
            </a:r>
          </a:p>
          <a:p>
            <a:pPr marL="742950" lvl="1" indent="-285750">
              <a:buFont typeface="Arial" panose="020B0604020202020204" pitchFamily="34" charset="0"/>
              <a:buChar char="•"/>
            </a:pPr>
            <a:r>
              <a:rPr lang="en-AU" sz="2400" dirty="0"/>
              <a:t>CIFAR</a:t>
            </a:r>
          </a:p>
          <a:p>
            <a:pPr marL="742950" lvl="1" indent="-285750">
              <a:buFont typeface="Arial" panose="020B0604020202020204" pitchFamily="34" charset="0"/>
              <a:buChar char="•"/>
            </a:pPr>
            <a:r>
              <a:rPr lang="en-AU" sz="2400" dirty="0"/>
              <a:t> FMNIST</a:t>
            </a:r>
          </a:p>
          <a:p>
            <a:endParaRPr lang="en-AU" dirty="0"/>
          </a:p>
        </p:txBody>
      </p:sp>
    </p:spTree>
    <p:extLst>
      <p:ext uri="{BB962C8B-B14F-4D97-AF65-F5344CB8AC3E}">
        <p14:creationId xmlns:p14="http://schemas.microsoft.com/office/powerpoint/2010/main" val="113583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7B78-14B9-ECEB-7E5E-87037DB8B564}"/>
              </a:ext>
            </a:extLst>
          </p:cNvPr>
          <p:cNvSpPr>
            <a:spLocks noGrp="1"/>
          </p:cNvSpPr>
          <p:nvPr>
            <p:ph type="title"/>
          </p:nvPr>
        </p:nvSpPr>
        <p:spPr>
          <a:xfrm>
            <a:off x="603068" y="4897937"/>
            <a:ext cx="10515600" cy="1325563"/>
          </a:xfrm>
        </p:spPr>
        <p:txBody>
          <a:bodyPr/>
          <a:lstStyle/>
          <a:p>
            <a:r>
              <a:rPr lang="en-AU" dirty="0"/>
              <a:t>Thank you.</a:t>
            </a:r>
          </a:p>
        </p:txBody>
      </p:sp>
    </p:spTree>
    <p:extLst>
      <p:ext uri="{BB962C8B-B14F-4D97-AF65-F5344CB8AC3E}">
        <p14:creationId xmlns:p14="http://schemas.microsoft.com/office/powerpoint/2010/main" val="874547627"/>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TM04033923[[fn=Depth]]</Template>
  <TotalTime>218</TotalTime>
  <Words>732</Words>
  <Application>Microsoft Office PowerPoint</Application>
  <PresentationFormat>Widescreen</PresentationFormat>
  <Paragraphs>81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Corbel</vt:lpstr>
      <vt:lpstr>Inter</vt:lpstr>
      <vt:lpstr>Depth</vt:lpstr>
      <vt:lpstr>Validating Efficiency of the  Forward-Forward Algorithm</vt:lpstr>
      <vt:lpstr>Aim</vt:lpstr>
      <vt:lpstr>Motivation</vt:lpstr>
      <vt:lpstr>Methodology</vt:lpstr>
      <vt:lpstr>Key Findings</vt:lpstr>
      <vt:lpstr>Limitations &amp; Implications </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Reyes</dc:creator>
  <cp:lastModifiedBy>Kevin Reyes</cp:lastModifiedBy>
  <cp:revision>13</cp:revision>
  <dcterms:created xsi:type="dcterms:W3CDTF">2024-11-09T07:55:31Z</dcterms:created>
  <dcterms:modified xsi:type="dcterms:W3CDTF">2024-11-09T11:34:17Z</dcterms:modified>
</cp:coreProperties>
</file>